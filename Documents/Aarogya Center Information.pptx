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2204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15537" y="10230815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ell-being.iiit.ac.in/about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45250" y="257050"/>
            <a:ext cx="80772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/>
                <a:cs typeface="Arial"/>
              </a:rPr>
              <a:t>28</a:t>
            </a:r>
            <a:r>
              <a:rPr sz="1200" spc="-10" dirty="0">
                <a:latin typeface="Arial"/>
                <a:cs typeface="Arial"/>
              </a:rPr>
              <a:t>/7/202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0074" y="4629102"/>
            <a:ext cx="4508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405128"/>
            <a:ext cx="6095999" cy="3428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7616" y="1411224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200">
              <a:latin typeface="Times New Roman"/>
              <a:cs typeface="Times New Roman"/>
            </a:endParaRPr>
          </a:p>
          <a:p>
            <a:pPr marL="656590">
              <a:lnSpc>
                <a:spcPct val="100000"/>
              </a:lnSpc>
            </a:pPr>
            <a:r>
              <a:rPr sz="2200" b="1" spc="-40" dirty="0">
                <a:solidFill>
                  <a:srgbClr val="FFFFFF"/>
                </a:solidFill>
                <a:latin typeface="Calibri"/>
                <a:cs typeface="Calibri"/>
              </a:rPr>
              <a:t>AAROGYA</a:t>
            </a:r>
            <a:r>
              <a:rPr sz="2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endParaRPr sz="2200">
              <a:latin typeface="Calibri"/>
              <a:cs typeface="Calibri"/>
            </a:endParaRPr>
          </a:p>
          <a:p>
            <a:pPr marL="656590">
              <a:lnSpc>
                <a:spcPts val="2610"/>
              </a:lnSpc>
              <a:spcBef>
                <a:spcPts val="75"/>
              </a:spcBef>
            </a:pPr>
            <a:r>
              <a:rPr sz="2200" dirty="0">
                <a:latin typeface="Arial"/>
                <a:cs typeface="Arial"/>
              </a:rPr>
              <a:t>Campus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Health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&amp;</a:t>
            </a:r>
            <a:endParaRPr sz="2200">
              <a:latin typeface="Arial"/>
              <a:cs typeface="Arial"/>
            </a:endParaRPr>
          </a:p>
          <a:p>
            <a:pPr marL="656590">
              <a:lnSpc>
                <a:spcPts val="2610"/>
              </a:lnSpc>
            </a:pPr>
            <a:r>
              <a:rPr sz="2200" dirty="0">
                <a:latin typeface="Arial"/>
                <a:cs typeface="Arial"/>
              </a:rPr>
              <a:t>Medical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Committee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CHMC</a:t>
            </a:r>
            <a:r>
              <a:rPr sz="2200" spc="-1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R="102870" algn="r">
              <a:lnSpc>
                <a:spcPct val="100000"/>
              </a:lnSpc>
              <a:spcBef>
                <a:spcPts val="1430"/>
              </a:spcBef>
            </a:pPr>
            <a:r>
              <a:rPr sz="600" dirty="0">
                <a:solidFill>
                  <a:srgbClr val="BFBFBF"/>
                </a:solidFill>
                <a:latin typeface="Calibri"/>
                <a:cs typeface="Calibri"/>
              </a:rPr>
              <a:t>00</a:t>
            </a:r>
            <a:r>
              <a:rPr sz="600" spc="-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BFBFBF"/>
                </a:solidFill>
                <a:latin typeface="Calibri"/>
                <a:cs typeface="Calibri"/>
              </a:rPr>
              <a:t>/</a:t>
            </a:r>
            <a:r>
              <a:rPr sz="600" spc="-1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BFBFBF"/>
                </a:solidFill>
                <a:latin typeface="Calibri"/>
                <a:cs typeface="Calibri"/>
              </a:rPr>
              <a:t>04</a:t>
            </a:r>
            <a:r>
              <a:rPr sz="600" spc="1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BFBFBF"/>
                </a:solidFill>
                <a:latin typeface="Calibri"/>
                <a:cs typeface="Calibri"/>
              </a:rPr>
              <a:t>/</a:t>
            </a:r>
            <a:r>
              <a:rPr sz="600" spc="-15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BFBFBF"/>
                </a:solidFill>
                <a:latin typeface="Calibri"/>
                <a:cs typeface="Calibri"/>
              </a:rPr>
              <a:t>2022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" y="5858255"/>
            <a:ext cx="6095999" cy="3429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7616" y="5864352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58445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Aarogya</a:t>
            </a:r>
            <a:endParaRPr sz="2200" dirty="0">
              <a:latin typeface="Calibri"/>
              <a:cs typeface="Calibri"/>
            </a:endParaRPr>
          </a:p>
          <a:p>
            <a:pPr marL="409575" marR="320040" indent="-171450" algn="just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410845" algn="l"/>
              </a:tabLst>
            </a:pPr>
            <a:r>
              <a:rPr sz="1400" dirty="0">
                <a:latin typeface="Calibri"/>
                <a:cs typeface="Calibri"/>
              </a:rPr>
              <a:t>Aarogya</a:t>
            </a:r>
            <a:r>
              <a:rPr sz="1400" spc="45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Centre</a:t>
            </a:r>
            <a:r>
              <a:rPr sz="1400" spc="4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provides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primary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medical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care</a:t>
            </a:r>
            <a:r>
              <a:rPr sz="1400" spc="4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4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faculty,</a:t>
            </a:r>
            <a:r>
              <a:rPr sz="1400" spc="4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staff 	students,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campus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residents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outsource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staff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etc.</a:t>
            </a:r>
            <a:endParaRPr sz="1400" dirty="0">
              <a:latin typeface="Calibri"/>
              <a:cs typeface="Calibri"/>
            </a:endParaRPr>
          </a:p>
          <a:p>
            <a:pPr marL="409575" marR="321310" indent="-171450" algn="just">
              <a:lnSpc>
                <a:spcPct val="100000"/>
              </a:lnSpc>
              <a:buFont typeface="Arial"/>
              <a:buChar char="•"/>
              <a:tabLst>
                <a:tab pos="410845" algn="l"/>
              </a:tabLst>
            </a:pPr>
            <a:r>
              <a:rPr sz="1400" dirty="0">
                <a:latin typeface="Calibri"/>
                <a:cs typeface="Calibri"/>
              </a:rPr>
              <a:t>We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daily doctors visiting 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campus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 hourly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based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24/7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nurse 	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Hospitals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(MoU)</a:t>
            </a:r>
            <a:endParaRPr sz="1400" dirty="0">
              <a:latin typeface="Calibri"/>
              <a:cs typeface="Calibri"/>
            </a:endParaRPr>
          </a:p>
          <a:p>
            <a:pPr marL="409575" marR="319405" indent="-171450" algn="just">
              <a:lnSpc>
                <a:spcPct val="100000"/>
              </a:lnSpc>
              <a:buFont typeface="Arial"/>
              <a:buChar char="•"/>
              <a:tabLst>
                <a:tab pos="410845" algn="l"/>
              </a:tabLst>
            </a:pPr>
            <a:r>
              <a:rPr sz="1400" dirty="0">
                <a:latin typeface="Calibri"/>
                <a:cs typeface="Calibri"/>
              </a:rPr>
              <a:t>The medical services that we provided include – Outpatient care, </a:t>
            </a:r>
            <a:r>
              <a:rPr sz="1400" spc="-25" dirty="0">
                <a:latin typeface="Calibri"/>
                <a:cs typeface="Calibri"/>
              </a:rPr>
              <a:t>In-	</a:t>
            </a:r>
            <a:r>
              <a:rPr sz="1400" dirty="0">
                <a:latin typeface="Calibri"/>
                <a:cs typeface="Calibri"/>
              </a:rPr>
              <a:t>patient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care,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Emergency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care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1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(ER),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Laboratory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1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Care 	</a:t>
            </a:r>
            <a:r>
              <a:rPr sz="1400" spc="-10" dirty="0">
                <a:latin typeface="Calibri"/>
                <a:cs typeface="Calibri"/>
              </a:rPr>
              <a:t>Hospitals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(MoU)</a:t>
            </a:r>
            <a:endParaRPr sz="1400" dirty="0">
              <a:latin typeface="Calibri"/>
              <a:cs typeface="Calibri"/>
            </a:endParaRPr>
          </a:p>
          <a:p>
            <a:pPr marL="410845" marR="321310" indent="-172720" algn="just">
              <a:lnSpc>
                <a:spcPct val="100000"/>
              </a:lnSpc>
              <a:buFont typeface="Arial"/>
              <a:buChar char="•"/>
              <a:tabLst>
                <a:tab pos="410845" algn="l"/>
                <a:tab pos="448309" algn="l"/>
              </a:tabLst>
            </a:pPr>
            <a:r>
              <a:rPr sz="1400" dirty="0">
                <a:latin typeface="Calibri"/>
                <a:cs typeface="Calibri"/>
              </a:rPr>
              <a:t>	We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visiting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consultants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Gynaecology,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Paediatrics,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Dentistry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who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monthly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basis.</a:t>
            </a:r>
            <a:endParaRPr sz="1400" dirty="0">
              <a:latin typeface="Calibri"/>
              <a:cs typeface="Calibri"/>
            </a:endParaRPr>
          </a:p>
          <a:p>
            <a:pPr marL="409575" marR="322580" indent="-171450" algn="just">
              <a:lnSpc>
                <a:spcPct val="100000"/>
              </a:lnSpc>
              <a:buFont typeface="Arial"/>
              <a:buChar char="•"/>
              <a:tabLst>
                <a:tab pos="410845" algn="l"/>
              </a:tabLst>
            </a:pPr>
            <a:r>
              <a:rPr sz="1400" dirty="0">
                <a:latin typeface="Calibri"/>
                <a:cs typeface="Calibri"/>
              </a:rPr>
              <a:t>We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telephonic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video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consultation,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lab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1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patients 	</a:t>
            </a:r>
            <a:r>
              <a:rPr sz="1400" dirty="0">
                <a:latin typeface="Calibri"/>
                <a:cs typeface="Calibri"/>
              </a:rPr>
              <a:t>who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unable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aarogya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centre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R="217170" algn="r">
              <a:lnSpc>
                <a:spcPct val="100000"/>
              </a:lnSpc>
              <a:spcBef>
                <a:spcPts val="630"/>
              </a:spcBef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4" y="1406146"/>
            <a:ext cx="6095999" cy="32560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7616" y="1411223"/>
            <a:ext cx="6089903" cy="307135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9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CHMC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members</a:t>
            </a:r>
            <a:endParaRPr sz="2200" dirty="0">
              <a:latin typeface="Calibri"/>
              <a:cs typeface="Calibri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sz="1200" b="1" i="1" spc="75" dirty="0">
                <a:latin typeface="Cambria"/>
                <a:cs typeface="Cambria"/>
              </a:rPr>
              <a:t>Dr.</a:t>
            </a:r>
            <a:r>
              <a:rPr sz="1200" b="1" i="1" spc="114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Anil</a:t>
            </a:r>
            <a:r>
              <a:rPr sz="1200" b="1" i="1" spc="12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Kumar</a:t>
            </a:r>
            <a:r>
              <a:rPr sz="1200" b="1" i="1" spc="150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Vuppala,</a:t>
            </a:r>
            <a:r>
              <a:rPr sz="1200" b="1" i="1" spc="150" dirty="0">
                <a:latin typeface="Cambria"/>
                <a:cs typeface="Cambria"/>
              </a:rPr>
              <a:t> </a:t>
            </a:r>
            <a:r>
              <a:rPr sz="1200" b="1" i="1" spc="-20" dirty="0">
                <a:latin typeface="Cambria"/>
                <a:cs typeface="Cambria"/>
              </a:rPr>
              <a:t>Chair</a:t>
            </a:r>
            <a:endParaRPr sz="1200" dirty="0">
              <a:latin typeface="Cambria"/>
              <a:cs typeface="Cambria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sz="1200" b="1" i="1" spc="50" dirty="0">
                <a:latin typeface="Cambria"/>
                <a:cs typeface="Cambria"/>
              </a:rPr>
              <a:t>Prof.</a:t>
            </a:r>
            <a:r>
              <a:rPr sz="1200" b="1" i="1" spc="12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Shatrunjay</a:t>
            </a:r>
            <a:r>
              <a:rPr sz="1200" b="1" i="1" spc="15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Rawat,</a:t>
            </a:r>
            <a:r>
              <a:rPr sz="1200" b="1" i="1" spc="15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(Chair</a:t>
            </a:r>
            <a:r>
              <a:rPr sz="1200" b="1" i="1" spc="160" dirty="0">
                <a:latin typeface="Cambria"/>
                <a:cs typeface="Cambria"/>
              </a:rPr>
              <a:t> </a:t>
            </a:r>
            <a:r>
              <a:rPr sz="1200" b="1" i="1" spc="80" dirty="0">
                <a:latin typeface="Cambria"/>
                <a:cs typeface="Cambria"/>
              </a:rPr>
              <a:t>QRA)</a:t>
            </a:r>
            <a:endParaRPr sz="1200" dirty="0">
              <a:latin typeface="Cambria"/>
              <a:cs typeface="Cambria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lang="en-US" sz="1200" b="1" i="1" spc="10" dirty="0">
                <a:latin typeface="Cambria"/>
                <a:cs typeface="Cambria"/>
              </a:rPr>
              <a:t>Ms. Pranjali Kanade, Chief warden (Member)</a:t>
            </a:r>
          </a:p>
          <a:p>
            <a:pPr marL="391160" indent="-173355">
              <a:buFont typeface="Arial"/>
              <a:buChar char="•"/>
              <a:tabLst>
                <a:tab pos="391160" algn="l"/>
              </a:tabLst>
            </a:pPr>
            <a:r>
              <a:rPr lang="en-IN" sz="1200" b="1" i="1" spc="-10" dirty="0">
                <a:latin typeface="Cambria"/>
                <a:cs typeface="Cambria"/>
              </a:rPr>
              <a:t>Asst. Prof. </a:t>
            </a:r>
            <a:r>
              <a:rPr lang="en-IN" sz="1200" b="1" i="1" spc="-10" dirty="0" err="1">
                <a:latin typeface="Cambria"/>
                <a:cs typeface="Cambria"/>
              </a:rPr>
              <a:t>Bhaktee</a:t>
            </a:r>
            <a:r>
              <a:rPr lang="en-IN" sz="1200" b="1" i="1" spc="-10" dirty="0">
                <a:latin typeface="Cambria"/>
                <a:cs typeface="Cambria"/>
              </a:rPr>
              <a:t> </a:t>
            </a:r>
            <a:r>
              <a:rPr lang="en-IN" sz="1200" b="1" i="1" spc="-10" dirty="0" err="1">
                <a:latin typeface="Cambria"/>
                <a:cs typeface="Cambria"/>
              </a:rPr>
              <a:t>Dongaonkar</a:t>
            </a:r>
            <a:r>
              <a:rPr lang="en-IN" sz="1200" b="1" i="1" spc="-10" dirty="0">
                <a:latin typeface="Cambria"/>
                <a:cs typeface="Cambria"/>
              </a:rPr>
              <a:t>, Coor</a:t>
            </a:r>
            <a:r>
              <a:rPr lang="en-IN" sz="1200" b="1" i="1" spc="10" dirty="0">
                <a:latin typeface="Cambria"/>
                <a:cs typeface="Cambria"/>
              </a:rPr>
              <a:t>dinator,</a:t>
            </a:r>
            <a:r>
              <a:rPr lang="en-IN" sz="1200" b="1" i="1" spc="125" dirty="0">
                <a:latin typeface="Cambria"/>
                <a:cs typeface="Cambria"/>
              </a:rPr>
              <a:t> </a:t>
            </a:r>
            <a:r>
              <a:rPr lang="en-IN" sz="1200" b="1" i="1" spc="10" dirty="0">
                <a:latin typeface="Cambria"/>
                <a:cs typeface="Cambria"/>
              </a:rPr>
              <a:t>Mental</a:t>
            </a:r>
            <a:r>
              <a:rPr lang="en-IN" sz="1200" b="1" i="1" spc="90" dirty="0">
                <a:latin typeface="Cambria"/>
                <a:cs typeface="Cambria"/>
              </a:rPr>
              <a:t> </a:t>
            </a:r>
            <a:r>
              <a:rPr lang="en-IN" sz="1200" b="1" i="1" spc="10" dirty="0">
                <a:latin typeface="Cambria"/>
                <a:cs typeface="Cambria"/>
              </a:rPr>
              <a:t>Health</a:t>
            </a:r>
            <a:r>
              <a:rPr lang="en-IN" sz="1200" b="1" i="1" spc="105" dirty="0">
                <a:latin typeface="Cambria"/>
                <a:cs typeface="Cambria"/>
              </a:rPr>
              <a:t> </a:t>
            </a:r>
            <a:r>
              <a:rPr lang="en-IN" sz="1200" b="1" i="1" spc="-10" dirty="0">
                <a:latin typeface="Cambria"/>
                <a:cs typeface="Cambria"/>
              </a:rPr>
              <a:t>(Member)</a:t>
            </a:r>
            <a:endParaRPr sz="1200" dirty="0">
              <a:latin typeface="Cambria"/>
              <a:cs typeface="Cambria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sz="1200" b="1" i="1" spc="75" dirty="0">
                <a:latin typeface="Cambria"/>
                <a:cs typeface="Cambria"/>
              </a:rPr>
              <a:t>Mr.</a:t>
            </a:r>
            <a:r>
              <a:rPr sz="1200" b="1" i="1" spc="35" dirty="0">
                <a:latin typeface="Cambria"/>
                <a:cs typeface="Cambria"/>
              </a:rPr>
              <a:t> </a:t>
            </a:r>
            <a:r>
              <a:rPr lang="en-US" sz="1200" b="1" i="1" spc="95" dirty="0">
                <a:latin typeface="Cambria"/>
                <a:cs typeface="Cambria"/>
              </a:rPr>
              <a:t>Manas Ranjan Mohanta</a:t>
            </a:r>
            <a:r>
              <a:rPr sz="1200" b="1" i="1" spc="60" dirty="0">
                <a:latin typeface="Cambria"/>
                <a:cs typeface="Cambria"/>
              </a:rPr>
              <a:t> </a:t>
            </a:r>
            <a:r>
              <a:rPr sz="1200" b="1" i="1" spc="-10" dirty="0">
                <a:latin typeface="Cambria"/>
                <a:cs typeface="Cambria"/>
              </a:rPr>
              <a:t>(Secretary)</a:t>
            </a:r>
            <a:endParaRPr sz="1200" dirty="0">
              <a:latin typeface="Cambria"/>
              <a:cs typeface="Cambria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sz="1200" b="1" i="1" spc="75" dirty="0">
                <a:latin typeface="Cambria"/>
                <a:cs typeface="Cambria"/>
              </a:rPr>
              <a:t>Mr.</a:t>
            </a:r>
            <a:r>
              <a:rPr sz="1200" b="1" i="1" spc="105" dirty="0">
                <a:latin typeface="Cambria"/>
                <a:cs typeface="Cambria"/>
              </a:rPr>
              <a:t> </a:t>
            </a:r>
            <a:r>
              <a:rPr lang="en-US" sz="1200" b="1" i="1" spc="105" dirty="0">
                <a:latin typeface="Cambria"/>
                <a:cs typeface="Cambria"/>
              </a:rPr>
              <a:t>(Nominee)</a:t>
            </a:r>
            <a:r>
              <a:rPr sz="1200" b="1" i="1" dirty="0">
                <a:latin typeface="Cambria"/>
                <a:cs typeface="Cambria"/>
              </a:rPr>
              <a:t>,</a:t>
            </a:r>
            <a:r>
              <a:rPr sz="1200" b="1" i="1" spc="13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Hostel</a:t>
            </a:r>
            <a:r>
              <a:rPr sz="1200" b="1" i="1" spc="13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Incharge</a:t>
            </a:r>
            <a:r>
              <a:rPr sz="1200" b="1" i="1" spc="145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(Admin</a:t>
            </a:r>
            <a:r>
              <a:rPr sz="1200" b="1" i="1" spc="140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Support</a:t>
            </a:r>
            <a:r>
              <a:rPr sz="1200" b="1" i="1" spc="150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for</a:t>
            </a:r>
            <a:r>
              <a:rPr sz="1200" b="1" i="1" spc="120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Mental</a:t>
            </a:r>
            <a:r>
              <a:rPr sz="1200" b="1" i="1" spc="140" dirty="0">
                <a:latin typeface="Cambria"/>
                <a:cs typeface="Cambria"/>
              </a:rPr>
              <a:t> </a:t>
            </a:r>
            <a:r>
              <a:rPr sz="1200" b="1" i="1" spc="-10" dirty="0">
                <a:latin typeface="Cambria"/>
                <a:cs typeface="Cambria"/>
              </a:rPr>
              <a:t>Health)</a:t>
            </a:r>
            <a:endParaRPr lang="en-US" sz="1200" b="1" i="1" spc="-10" dirty="0">
              <a:latin typeface="Cambria"/>
              <a:cs typeface="Cambria"/>
            </a:endParaRPr>
          </a:p>
          <a:p>
            <a:pPr marL="391160" indent="-173355">
              <a:buFont typeface="Arial"/>
              <a:buChar char="•"/>
              <a:tabLst>
                <a:tab pos="391160" algn="l"/>
              </a:tabLst>
            </a:pPr>
            <a:r>
              <a:rPr lang="en-IN" sz="1200" b="1" i="1" dirty="0">
                <a:latin typeface="Cambria"/>
                <a:cs typeface="Cambria"/>
              </a:rPr>
              <a:t>Counsellors</a:t>
            </a:r>
            <a:r>
              <a:rPr lang="en-IN" sz="1200" b="1" i="1" spc="175" dirty="0">
                <a:latin typeface="Cambria"/>
                <a:cs typeface="Cambria"/>
              </a:rPr>
              <a:t> </a:t>
            </a:r>
            <a:r>
              <a:rPr lang="en-IN" sz="1200" b="1" i="1" spc="55" dirty="0">
                <a:latin typeface="Cambria"/>
                <a:cs typeface="Cambria"/>
              </a:rPr>
              <a:t>&amp;</a:t>
            </a:r>
            <a:r>
              <a:rPr lang="en-IN" sz="1200" b="1" i="1" spc="190" dirty="0">
                <a:latin typeface="Cambria"/>
                <a:cs typeface="Cambria"/>
              </a:rPr>
              <a:t> </a:t>
            </a:r>
            <a:r>
              <a:rPr lang="en-IN" sz="1200" b="1" i="1" dirty="0">
                <a:latin typeface="Cambria"/>
                <a:cs typeface="Cambria"/>
              </a:rPr>
              <a:t>Medical</a:t>
            </a:r>
            <a:r>
              <a:rPr lang="en-IN" sz="1200" b="1" i="1" spc="180" dirty="0">
                <a:latin typeface="Cambria"/>
                <a:cs typeface="Cambria"/>
              </a:rPr>
              <a:t> </a:t>
            </a:r>
            <a:r>
              <a:rPr lang="en-IN" sz="1200" b="1" i="1" dirty="0">
                <a:latin typeface="Cambria"/>
                <a:cs typeface="Cambria"/>
              </a:rPr>
              <a:t>Doctors,</a:t>
            </a:r>
            <a:r>
              <a:rPr lang="en-IN" sz="1200" b="1" i="1" spc="185" dirty="0">
                <a:latin typeface="Cambria"/>
                <a:cs typeface="Cambria"/>
              </a:rPr>
              <a:t> </a:t>
            </a:r>
            <a:r>
              <a:rPr lang="en-IN" sz="1200" b="1" i="1" dirty="0">
                <a:latin typeface="Cambria"/>
                <a:cs typeface="Cambria"/>
              </a:rPr>
              <a:t>(Invitees</a:t>
            </a:r>
            <a:r>
              <a:rPr lang="en-IN" sz="1200" b="1" i="1" spc="-50" dirty="0">
                <a:latin typeface="Cambria"/>
                <a:cs typeface="Cambria"/>
              </a:rPr>
              <a:t>)</a:t>
            </a:r>
            <a:endParaRPr lang="en-US" sz="1200" b="1" i="1" spc="-10" dirty="0">
              <a:latin typeface="Cambria"/>
              <a:cs typeface="Cambria"/>
            </a:endParaRPr>
          </a:p>
          <a:p>
            <a:pPr marL="391160" indent="-173355">
              <a:lnSpc>
                <a:spcPct val="100000"/>
              </a:lnSpc>
              <a:buFont typeface="Arial"/>
              <a:buChar char="•"/>
              <a:tabLst>
                <a:tab pos="391160" algn="l"/>
              </a:tabLst>
            </a:pPr>
            <a:r>
              <a:rPr lang="en-IN" sz="1200" u="sng" dirty="0">
                <a:hlinkClick r:id="rId3" tooltip="https://well-being.iiit.ac.in/about/"/>
              </a:rPr>
              <a:t>https://well-being.iiit.ac.in/about/</a:t>
            </a: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 dirty="0">
              <a:latin typeface="Cambria"/>
              <a:cs typeface="Cambria"/>
            </a:endParaRPr>
          </a:p>
          <a:p>
            <a:pPr marR="217170" algn="r">
              <a:lnSpc>
                <a:spcPct val="10000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7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5858255"/>
            <a:ext cx="6095999" cy="3429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7616" y="5864352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&amp;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Facilities</a:t>
            </a:r>
            <a:endParaRPr sz="2200" dirty="0">
              <a:latin typeface="Calibri"/>
              <a:cs typeface="Calibri"/>
            </a:endParaRPr>
          </a:p>
          <a:p>
            <a:pPr marL="342900" indent="-17272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42900" algn="l"/>
              </a:tabLst>
            </a:pPr>
            <a:r>
              <a:rPr sz="1000" b="1" i="1" dirty="0">
                <a:latin typeface="Cambria"/>
                <a:cs typeface="Cambria"/>
              </a:rPr>
              <a:t>Daily</a:t>
            </a:r>
            <a:r>
              <a:rPr sz="1000" b="1" i="1" spc="13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visiting</a:t>
            </a:r>
            <a:r>
              <a:rPr sz="1000" b="1" i="1" spc="150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doctors</a:t>
            </a:r>
            <a:endParaRPr sz="1000" dirty="0">
              <a:latin typeface="Cambria"/>
              <a:cs typeface="Cambria"/>
            </a:endParaRPr>
          </a:p>
          <a:p>
            <a:pPr marL="398780" lvl="1" indent="-170180">
              <a:lnSpc>
                <a:spcPct val="100000"/>
              </a:lnSpc>
              <a:spcBef>
                <a:spcPts val="70"/>
              </a:spcBef>
              <a:buClr>
                <a:srgbClr val="000000"/>
              </a:buClr>
              <a:buChar char="•"/>
              <a:tabLst>
                <a:tab pos="398780" algn="l"/>
              </a:tabLst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physician</a:t>
            </a:r>
            <a:r>
              <a:rPr sz="8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care</a:t>
            </a:r>
            <a:r>
              <a:rPr sz="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hospital</a:t>
            </a:r>
            <a:r>
              <a:rPr sz="8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(1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Day+1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Evening)</a:t>
            </a:r>
            <a:endParaRPr sz="800" dirty="0">
              <a:latin typeface="Arial"/>
              <a:cs typeface="Arial"/>
            </a:endParaRPr>
          </a:p>
          <a:p>
            <a:pPr marL="398780" lvl="1" indent="-170180">
              <a:lnSpc>
                <a:spcPct val="100000"/>
              </a:lnSpc>
              <a:buClr>
                <a:srgbClr val="000000"/>
              </a:buClr>
              <a:buChar char="•"/>
              <a:tabLst>
                <a:tab pos="398780" algn="l"/>
              </a:tabLst>
            </a:pP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Ayurvedic</a:t>
            </a:r>
            <a:r>
              <a:rPr sz="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8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01</a:t>
            </a:r>
            <a:endParaRPr sz="800" dirty="0">
              <a:latin typeface="Arial"/>
              <a:cs typeface="Arial"/>
            </a:endParaRPr>
          </a:p>
          <a:p>
            <a:pPr marL="398780" lvl="1" indent="-170180">
              <a:lnSpc>
                <a:spcPct val="100000"/>
              </a:lnSpc>
              <a:buClr>
                <a:srgbClr val="000000"/>
              </a:buClr>
              <a:buChar char="•"/>
              <a:tabLst>
                <a:tab pos="398780" algn="l"/>
              </a:tabLst>
            </a:pP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Homeopathy:</a:t>
            </a:r>
            <a:r>
              <a:rPr sz="8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01</a:t>
            </a:r>
            <a:endParaRPr sz="800" dirty="0">
              <a:latin typeface="Arial"/>
              <a:cs typeface="Arial"/>
            </a:endParaRPr>
          </a:p>
          <a:p>
            <a:pPr marL="398780" lvl="1" indent="-170180">
              <a:lnSpc>
                <a:spcPct val="100000"/>
              </a:lnSpc>
              <a:buClr>
                <a:srgbClr val="000000"/>
              </a:buClr>
              <a:buChar char="•"/>
              <a:tabLst>
                <a:tab pos="398780" algn="l"/>
              </a:tabLst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24/7</a:t>
            </a:r>
            <a:r>
              <a:rPr sz="8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nurse</a:t>
            </a:r>
            <a:r>
              <a:rPr sz="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endParaRPr sz="800" dirty="0">
              <a:latin typeface="Arial"/>
              <a:cs typeface="Arial"/>
            </a:endParaRPr>
          </a:p>
          <a:p>
            <a:pPr marL="420370" lvl="1" indent="-191770">
              <a:lnSpc>
                <a:spcPct val="100000"/>
              </a:lnSpc>
              <a:buClr>
                <a:srgbClr val="000000"/>
              </a:buClr>
              <a:buChar char="•"/>
              <a:tabLst>
                <a:tab pos="420370" algn="l"/>
              </a:tabLst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Aarogya</a:t>
            </a:r>
            <a:r>
              <a:rPr sz="8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contact:</a:t>
            </a:r>
            <a:r>
              <a:rPr sz="8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040-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6653</a:t>
            </a:r>
            <a:r>
              <a:rPr sz="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FF0000"/>
                </a:solidFill>
                <a:latin typeface="Arial"/>
                <a:cs typeface="Arial"/>
              </a:rPr>
              <a:t>1656</a:t>
            </a:r>
            <a:endParaRPr sz="800" dirty="0">
              <a:latin typeface="Arial"/>
              <a:cs typeface="Arial"/>
            </a:endParaRPr>
          </a:p>
          <a:p>
            <a:pPr marL="294640" indent="-124460">
              <a:lnSpc>
                <a:spcPct val="100000"/>
              </a:lnSpc>
              <a:spcBef>
                <a:spcPts val="890"/>
              </a:spcBef>
              <a:buAutoNum type="arabicPeriod"/>
              <a:tabLst>
                <a:tab pos="294640" algn="l"/>
              </a:tabLst>
            </a:pPr>
            <a:r>
              <a:rPr sz="1000" b="1" i="1" spc="-130" dirty="0">
                <a:latin typeface="Cambria"/>
                <a:cs typeface="Cambria"/>
              </a:rPr>
              <a:t>24/7</a:t>
            </a:r>
            <a:r>
              <a:rPr sz="1000" b="1" i="1" spc="11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Ambulance</a:t>
            </a:r>
            <a:r>
              <a:rPr sz="1000" b="1" i="1" spc="120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service:</a:t>
            </a:r>
            <a:r>
              <a:rPr sz="1000" b="1" i="1" spc="114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Contact</a:t>
            </a:r>
            <a:r>
              <a:rPr sz="1000" b="1" i="1" spc="130" dirty="0">
                <a:latin typeface="Cambria"/>
                <a:cs typeface="Cambria"/>
              </a:rPr>
              <a:t> </a:t>
            </a:r>
            <a:r>
              <a:rPr sz="1000" b="1" i="1" spc="-100" dirty="0">
                <a:latin typeface="Cambria"/>
                <a:cs typeface="Cambria"/>
              </a:rPr>
              <a:t>99891</a:t>
            </a:r>
            <a:r>
              <a:rPr sz="1000" b="1" i="1" spc="80" dirty="0">
                <a:latin typeface="Cambria"/>
                <a:cs typeface="Cambria"/>
              </a:rPr>
              <a:t> </a:t>
            </a:r>
            <a:r>
              <a:rPr sz="1000" b="1" i="1" spc="-20" dirty="0">
                <a:latin typeface="Cambria"/>
                <a:cs typeface="Cambria"/>
              </a:rPr>
              <a:t>38983</a:t>
            </a:r>
            <a:endParaRPr sz="1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mbria"/>
              <a:buAutoNum type="arabicPeriod"/>
            </a:pPr>
            <a:endParaRPr sz="1000" dirty="0">
              <a:latin typeface="Cambria"/>
              <a:cs typeface="Cambria"/>
            </a:endParaRPr>
          </a:p>
          <a:p>
            <a:pPr marL="294640" indent="-12446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sz="1000" b="1" i="1" dirty="0">
                <a:latin typeface="Cambria"/>
                <a:cs typeface="Cambria"/>
              </a:rPr>
              <a:t>Psychological</a:t>
            </a:r>
            <a:r>
              <a:rPr sz="1000" b="1" i="1" spc="145" dirty="0">
                <a:latin typeface="Cambria"/>
                <a:cs typeface="Cambria"/>
              </a:rPr>
              <a:t> </a:t>
            </a:r>
            <a:r>
              <a:rPr sz="1000" b="1" i="1" dirty="0">
                <a:latin typeface="Cambria"/>
                <a:cs typeface="Cambria"/>
              </a:rPr>
              <a:t>counselling</a:t>
            </a:r>
            <a:r>
              <a:rPr sz="1000" b="1" i="1" spc="130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service</a:t>
            </a:r>
            <a:endParaRPr sz="1000" dirty="0">
              <a:latin typeface="Cambria"/>
              <a:cs typeface="Cambria"/>
            </a:endParaRPr>
          </a:p>
          <a:p>
            <a:pPr marL="433070" lvl="1" indent="-47625">
              <a:lnSpc>
                <a:spcPct val="100000"/>
              </a:lnSpc>
              <a:spcBef>
                <a:spcPts val="70"/>
              </a:spcBef>
              <a:buSzPct val="87500"/>
              <a:buChar char="•"/>
              <a:tabLst>
                <a:tab pos="433070" algn="l"/>
              </a:tabLst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Psychiatrist</a:t>
            </a:r>
            <a:r>
              <a:rPr sz="8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(1)</a:t>
            </a:r>
            <a:endParaRPr sz="800" dirty="0">
              <a:latin typeface="Arial"/>
              <a:cs typeface="Arial"/>
            </a:endParaRPr>
          </a:p>
          <a:p>
            <a:pPr marL="433070" lvl="1" indent="-47625">
              <a:lnSpc>
                <a:spcPct val="100000"/>
              </a:lnSpc>
              <a:buSzPct val="87500"/>
              <a:buChar char="•"/>
              <a:tabLst>
                <a:tab pos="433070" algn="l"/>
              </a:tabLst>
            </a:pP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Counselling</a:t>
            </a:r>
            <a:r>
              <a:rPr sz="8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Psychologist</a:t>
            </a:r>
            <a:r>
              <a:rPr sz="8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(1)</a:t>
            </a:r>
            <a:endParaRPr sz="800" dirty="0">
              <a:latin typeface="Arial"/>
              <a:cs typeface="Arial"/>
            </a:endParaRPr>
          </a:p>
          <a:p>
            <a:pPr marL="433070" lvl="1" indent="-47625">
              <a:lnSpc>
                <a:spcPct val="100000"/>
              </a:lnSpc>
              <a:buSzPct val="87500"/>
              <a:buChar char="•"/>
              <a:tabLst>
                <a:tab pos="433070" algn="l"/>
              </a:tabLst>
            </a:pP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RCI</a:t>
            </a:r>
            <a:r>
              <a:rPr sz="8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Rehabilitation</a:t>
            </a:r>
            <a:r>
              <a:rPr sz="8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Psychologist</a:t>
            </a:r>
            <a:r>
              <a:rPr sz="800" dirty="0">
                <a:solidFill>
                  <a:srgbClr val="FF0000"/>
                </a:solidFill>
                <a:latin typeface="Arial"/>
                <a:cs typeface="Arial"/>
              </a:rPr>
              <a:t> &amp;</a:t>
            </a:r>
            <a:r>
              <a:rPr sz="800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Arial"/>
                <a:cs typeface="Arial"/>
              </a:rPr>
              <a:t>Psychotherapist</a:t>
            </a:r>
            <a:r>
              <a:rPr sz="8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Arial"/>
                <a:cs typeface="Arial"/>
              </a:rPr>
              <a:t>(1)</a:t>
            </a:r>
            <a:endParaRPr sz="800" dirty="0">
              <a:latin typeface="Arial"/>
              <a:cs typeface="Arial"/>
            </a:endParaRPr>
          </a:p>
          <a:p>
            <a:pPr marL="294640" indent="-124460">
              <a:lnSpc>
                <a:spcPct val="100000"/>
              </a:lnSpc>
              <a:spcBef>
                <a:spcPts val="890"/>
              </a:spcBef>
              <a:buAutoNum type="arabicPeriod"/>
              <a:tabLst>
                <a:tab pos="294640" algn="l"/>
              </a:tabLst>
            </a:pPr>
            <a:r>
              <a:rPr sz="1000" b="1" i="1" dirty="0">
                <a:latin typeface="Cambria"/>
                <a:cs typeface="Cambria"/>
              </a:rPr>
              <a:t>General</a:t>
            </a:r>
            <a:r>
              <a:rPr sz="1000" b="1" i="1" spc="185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medicines</a:t>
            </a:r>
            <a:endParaRPr sz="1000" dirty="0">
              <a:latin typeface="Cambria"/>
              <a:cs typeface="Cambria"/>
            </a:endParaRPr>
          </a:p>
          <a:p>
            <a:pPr marL="294640" indent="-12446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sz="1000" b="1" i="1" spc="-10" dirty="0">
                <a:latin typeface="Cambria"/>
                <a:cs typeface="Cambria"/>
              </a:rPr>
              <a:t>Nebulisation</a:t>
            </a:r>
            <a:endParaRPr sz="1000" dirty="0">
              <a:latin typeface="Cambria"/>
              <a:cs typeface="Cambria"/>
            </a:endParaRPr>
          </a:p>
          <a:p>
            <a:pPr marL="294640" indent="-124460">
              <a:lnSpc>
                <a:spcPts val="1140"/>
              </a:lnSpc>
              <a:spcBef>
                <a:spcPts val="10"/>
              </a:spcBef>
              <a:buAutoNum type="arabicPeriod"/>
              <a:tabLst>
                <a:tab pos="294640" algn="l"/>
              </a:tabLst>
            </a:pPr>
            <a:r>
              <a:rPr sz="1000" b="1" i="1" dirty="0">
                <a:latin typeface="Cambria"/>
                <a:cs typeface="Cambria"/>
              </a:rPr>
              <a:t>Oxygen</a:t>
            </a:r>
            <a:r>
              <a:rPr sz="1000" b="1" i="1" spc="180" dirty="0">
                <a:latin typeface="Cambria"/>
                <a:cs typeface="Cambria"/>
              </a:rPr>
              <a:t> </a:t>
            </a:r>
            <a:r>
              <a:rPr sz="1000" b="1" i="1" spc="-10" dirty="0">
                <a:latin typeface="Cambria"/>
                <a:cs typeface="Cambria"/>
              </a:rPr>
              <a:t>concentrators</a:t>
            </a:r>
            <a:endParaRPr sz="1000" dirty="0">
              <a:latin typeface="Cambria"/>
              <a:cs typeface="Cambria"/>
            </a:endParaRPr>
          </a:p>
          <a:p>
            <a:pPr marR="217170" algn="r">
              <a:lnSpc>
                <a:spcPts val="78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CAD51ED-2240-DD43-92B8-5DAEBC56FDD9}"/>
              </a:ext>
            </a:extLst>
          </p:cNvPr>
          <p:cNvSpPr txBox="1"/>
          <p:nvPr/>
        </p:nvSpPr>
        <p:spPr>
          <a:xfrm>
            <a:off x="6445250" y="257050"/>
            <a:ext cx="80772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/>
                <a:cs typeface="Arial"/>
              </a:rPr>
              <a:t>28</a:t>
            </a:r>
            <a:r>
              <a:rPr sz="1200" spc="-10" dirty="0">
                <a:latin typeface="Arial"/>
                <a:cs typeface="Arial"/>
              </a:rPr>
              <a:t>/7/202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405128"/>
            <a:ext cx="6095999" cy="3428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0074" y="4629102"/>
            <a:ext cx="4508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5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6903" y="3496055"/>
            <a:ext cx="1866900" cy="1257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7616" y="1411224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305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14"/>
              </a:spcBef>
            </a:pPr>
            <a:endParaRPr sz="20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MOU</a:t>
            </a:r>
            <a:r>
              <a:rPr sz="20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Hospitals</a:t>
            </a:r>
            <a:r>
              <a:rPr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(near</a:t>
            </a:r>
            <a:r>
              <a:rPr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by)</a:t>
            </a:r>
            <a:endParaRPr sz="2000">
              <a:latin typeface="Calibri"/>
              <a:cs typeface="Calibri"/>
            </a:endParaRPr>
          </a:p>
          <a:p>
            <a:pPr marL="329565" indent="-123825">
              <a:lnSpc>
                <a:spcPct val="100000"/>
              </a:lnSpc>
              <a:spcBef>
                <a:spcPts val="1725"/>
              </a:spcBef>
              <a:buAutoNum type="arabicPeriod"/>
              <a:tabLst>
                <a:tab pos="329565" algn="l"/>
              </a:tabLst>
            </a:pP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Care</a:t>
            </a:r>
            <a:r>
              <a:rPr sz="9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Hospitals</a:t>
            </a:r>
            <a:r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(IP</a:t>
            </a: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FF0000"/>
                </a:solidFill>
                <a:latin typeface="Arial"/>
                <a:cs typeface="Arial"/>
              </a:rPr>
              <a:t>OP)</a:t>
            </a:r>
            <a:endParaRPr sz="900">
              <a:latin typeface="Arial"/>
              <a:cs typeface="Arial"/>
            </a:endParaRPr>
          </a:p>
          <a:p>
            <a:pPr marL="205104" marR="3286125">
              <a:lnSpc>
                <a:spcPct val="100000"/>
              </a:lnSpc>
              <a:spcBef>
                <a:spcPts val="844"/>
              </a:spcBef>
            </a:pPr>
            <a:r>
              <a:rPr sz="700" dirty="0">
                <a:latin typeface="Arial"/>
                <a:cs typeface="Arial"/>
              </a:rPr>
              <a:t>Old</a:t>
            </a:r>
            <a:r>
              <a:rPr sz="700" spc="-4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Mumbai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Hwy,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near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Cyberabad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Police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Commissionerate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Jayabheri</a:t>
            </a:r>
            <a:r>
              <a:rPr sz="700" spc="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Pine </a:t>
            </a:r>
            <a:r>
              <a:rPr sz="700" spc="-20" dirty="0">
                <a:latin typeface="Arial"/>
                <a:cs typeface="Arial"/>
              </a:rPr>
              <a:t>Valley,</a:t>
            </a:r>
            <a:r>
              <a:rPr sz="700" spc="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HITEC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City,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Hyderabad,</a:t>
            </a:r>
            <a:r>
              <a:rPr sz="700" spc="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Telangana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500032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"/>
              <a:cs typeface="Arial"/>
            </a:endParaRPr>
          </a:p>
          <a:p>
            <a:pPr marL="329565" indent="-12382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29565" algn="l"/>
              </a:tabLst>
            </a:pP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Rainbow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 Children’s</a:t>
            </a:r>
            <a:r>
              <a:rPr sz="9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Medicare Limited</a:t>
            </a:r>
            <a:r>
              <a:rPr sz="9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(OP)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Arial"/>
                <a:cs typeface="Arial"/>
              </a:rPr>
              <a:t>Survey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No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74,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Rainbow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Children's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Hospital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&amp;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Birthright,</a:t>
            </a:r>
            <a:endParaRPr sz="7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Financial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District,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Nanakramguda,</a:t>
            </a:r>
            <a:r>
              <a:rPr sz="700" spc="1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Hyderabad,</a:t>
            </a:r>
            <a:r>
              <a:rPr sz="700" spc="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Telangana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500008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"/>
              <a:cs typeface="Arial"/>
            </a:endParaRPr>
          </a:p>
          <a:p>
            <a:pPr marL="316230" indent="-110489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16230" algn="l"/>
              </a:tabLst>
            </a:pP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AIG</a:t>
            </a:r>
            <a:r>
              <a:rPr sz="9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(A</a:t>
            </a:r>
            <a:r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Unit Of</a:t>
            </a:r>
            <a:r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Asian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Institute</a:t>
            </a:r>
            <a:r>
              <a:rPr sz="9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Gastroenterolgy)-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MoU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progress</a:t>
            </a:r>
            <a:endParaRPr sz="9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sz="700" spc="-20" dirty="0">
                <a:latin typeface="Arial"/>
                <a:cs typeface="Arial"/>
              </a:rPr>
              <a:t>1-</a:t>
            </a:r>
            <a:r>
              <a:rPr sz="700" spc="-10" dirty="0">
                <a:latin typeface="Arial"/>
                <a:cs typeface="Arial"/>
              </a:rPr>
              <a:t>66/AIG/2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5,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Mindspace</a:t>
            </a:r>
            <a:r>
              <a:rPr sz="700" spc="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Road,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Gachibowli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Hyderabad,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Telangana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500032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Arial"/>
                <a:cs typeface="Arial"/>
              </a:rPr>
              <a:t>*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Good</a:t>
            </a:r>
            <a:r>
              <a:rPr sz="900" b="1" i="1" u="sng" spc="-20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offices</a:t>
            </a:r>
            <a:r>
              <a:rPr sz="900" b="1" i="1" u="sng" spc="-30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with</a:t>
            </a:r>
            <a:r>
              <a:rPr sz="900" b="1" i="1" u="sng" spc="-5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Himagiri</a:t>
            </a:r>
            <a:r>
              <a:rPr sz="900" b="1" i="1" u="sng" spc="-25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Hospitals</a:t>
            </a:r>
            <a:r>
              <a:rPr sz="900" b="1" i="1" u="sng" spc="-20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and</a:t>
            </a:r>
            <a:r>
              <a:rPr sz="900" b="1" i="1" u="sng" spc="-15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spc="-10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Continental</a:t>
            </a:r>
            <a:r>
              <a:rPr sz="900" b="1" i="1" u="sng" spc="-35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 </a:t>
            </a:r>
            <a:r>
              <a:rPr sz="900" b="1" i="1" u="sng" spc="-10" dirty="0">
                <a:solidFill>
                  <a:srgbClr val="445469"/>
                </a:solidFill>
                <a:uFill>
                  <a:solidFill>
                    <a:srgbClr val="445469"/>
                  </a:solidFill>
                </a:uFill>
                <a:latin typeface="Arial"/>
                <a:cs typeface="Arial"/>
              </a:rPr>
              <a:t>Hospitals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5858255"/>
            <a:ext cx="6095999" cy="3429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50074" y="9082182"/>
            <a:ext cx="4508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6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7924" y="6811822"/>
            <a:ext cx="9556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Other</a:t>
            </a:r>
            <a:r>
              <a:rPr sz="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medical</a:t>
            </a:r>
            <a:r>
              <a:rPr sz="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FF0000"/>
                </a:solidFill>
                <a:latin typeface="Arial"/>
                <a:cs typeface="Arial"/>
              </a:rPr>
              <a:t>team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7840" y="7041836"/>
            <a:ext cx="1814830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27329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"/>
                <a:cs typeface="Arial"/>
              </a:rPr>
              <a:t>Dr.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Vinaya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Ballakur,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Ayurvedic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Physician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Working</a:t>
            </a:r>
            <a:r>
              <a:rPr sz="700" spc="-5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days: Monday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&amp;</a:t>
            </a:r>
            <a:r>
              <a:rPr sz="700" spc="-10" dirty="0">
                <a:latin typeface="Arial"/>
                <a:cs typeface="Arial"/>
              </a:rPr>
              <a:t> Wednesday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Timings: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10:00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am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12.00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R="5080">
              <a:lnSpc>
                <a:spcPct val="100000"/>
              </a:lnSpc>
            </a:pPr>
            <a:r>
              <a:rPr sz="700" spc="-20" dirty="0">
                <a:latin typeface="Arial"/>
                <a:cs typeface="Arial"/>
              </a:rPr>
              <a:t>Dr.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Subhashini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Reddy, </a:t>
            </a:r>
            <a:r>
              <a:rPr sz="700" dirty="0">
                <a:latin typeface="Arial"/>
                <a:cs typeface="Arial"/>
              </a:rPr>
              <a:t>Homeopathy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Physician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Working</a:t>
            </a:r>
            <a:r>
              <a:rPr sz="700" spc="-5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day:</a:t>
            </a:r>
            <a:r>
              <a:rPr sz="700" spc="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Thursday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700" spc="-10" dirty="0">
                <a:latin typeface="Arial"/>
                <a:cs typeface="Arial"/>
              </a:rPr>
              <a:t>Timings: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11.00am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01.00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3256" y="6374359"/>
            <a:ext cx="3212465" cy="591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Medical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timings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sz="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0000"/>
                </a:solidFill>
                <a:latin typeface="Arial"/>
                <a:cs typeface="Arial"/>
              </a:rPr>
              <a:t>physicians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 visiting</a:t>
            </a:r>
            <a:r>
              <a:rPr sz="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r>
              <a:rPr sz="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Care</a:t>
            </a:r>
            <a:r>
              <a:rPr sz="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0000"/>
                </a:solidFill>
                <a:latin typeface="Arial"/>
                <a:cs typeface="Arial"/>
              </a:rPr>
              <a:t>Hospitals</a:t>
            </a:r>
            <a:r>
              <a:rPr sz="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0000"/>
                </a:solidFill>
                <a:latin typeface="Arial"/>
                <a:cs typeface="Arial"/>
              </a:rPr>
              <a:t>per</a:t>
            </a:r>
            <a:r>
              <a:rPr sz="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FF0000"/>
                </a:solidFill>
                <a:latin typeface="Arial"/>
                <a:cs typeface="Arial"/>
              </a:rPr>
              <a:t>MoU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6903" y="7949183"/>
            <a:ext cx="1866900" cy="1257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62587" y="7047932"/>
            <a:ext cx="1311910" cy="72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indent="-53340">
              <a:lnSpc>
                <a:spcPct val="100000"/>
              </a:lnSpc>
              <a:spcBef>
                <a:spcPts val="95"/>
              </a:spcBef>
              <a:buSzPct val="85714"/>
              <a:buFont typeface="Arial"/>
              <a:buChar char="•"/>
              <a:tabLst>
                <a:tab pos="63500" algn="l"/>
              </a:tabLst>
            </a:pPr>
            <a:r>
              <a:rPr sz="700" i="1" spc="-10" dirty="0">
                <a:latin typeface="Arial"/>
                <a:cs typeface="Arial"/>
              </a:rPr>
              <a:t>Morning: </a:t>
            </a:r>
            <a:r>
              <a:rPr sz="700" i="1" dirty="0">
                <a:latin typeface="Arial"/>
                <a:cs typeface="Arial"/>
              </a:rPr>
              <a:t>10.00</a:t>
            </a:r>
            <a:r>
              <a:rPr sz="700" i="1" spc="-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am</a:t>
            </a:r>
            <a:r>
              <a:rPr sz="700" i="1" spc="-1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to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12.00</a:t>
            </a:r>
            <a:r>
              <a:rPr sz="700" i="1" spc="-10" dirty="0">
                <a:latin typeface="Arial"/>
                <a:cs typeface="Arial"/>
              </a:rPr>
              <a:t> </a:t>
            </a:r>
            <a:r>
              <a:rPr sz="700" i="1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  <a:p>
            <a:pPr marL="63500" indent="-53340">
              <a:lnSpc>
                <a:spcPct val="100000"/>
              </a:lnSpc>
              <a:buSzPct val="85714"/>
              <a:buFont typeface="Arial"/>
              <a:buChar char="•"/>
              <a:tabLst>
                <a:tab pos="63500" algn="l"/>
              </a:tabLst>
            </a:pPr>
            <a:r>
              <a:rPr sz="700" i="1" dirty="0">
                <a:latin typeface="Arial"/>
                <a:cs typeface="Arial"/>
              </a:rPr>
              <a:t>Evening:</a:t>
            </a:r>
            <a:r>
              <a:rPr sz="700" i="1" spc="-1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04.00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pm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to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06.00</a:t>
            </a:r>
            <a:r>
              <a:rPr sz="700" i="1" spc="-30" dirty="0">
                <a:latin typeface="Arial"/>
                <a:cs typeface="Arial"/>
              </a:rPr>
              <a:t> </a:t>
            </a:r>
            <a:r>
              <a:rPr sz="700" i="1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  <a:p>
            <a:pPr marL="63500" indent="-53340">
              <a:lnSpc>
                <a:spcPct val="100000"/>
              </a:lnSpc>
              <a:buClr>
                <a:srgbClr val="000000"/>
              </a:buClr>
              <a:buSzPct val="85714"/>
              <a:buFont typeface="Arial"/>
              <a:buChar char="•"/>
              <a:tabLst>
                <a:tab pos="63500" algn="l"/>
              </a:tabLst>
            </a:pPr>
            <a:r>
              <a:rPr sz="700" i="1" dirty="0">
                <a:solidFill>
                  <a:srgbClr val="FF0000"/>
                </a:solidFill>
                <a:latin typeface="Arial"/>
                <a:cs typeface="Arial"/>
              </a:rPr>
              <a:t>Saturday</a:t>
            </a:r>
            <a:r>
              <a:rPr sz="7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FF0000"/>
                </a:solidFill>
                <a:latin typeface="Arial"/>
                <a:cs typeface="Arial"/>
              </a:rPr>
              <a:t>off</a:t>
            </a:r>
            <a:endParaRPr sz="700">
              <a:latin typeface="Arial"/>
              <a:cs typeface="Arial"/>
            </a:endParaRPr>
          </a:p>
          <a:p>
            <a:pPr marL="63500" indent="-53340">
              <a:lnSpc>
                <a:spcPct val="100000"/>
              </a:lnSpc>
              <a:buSzPct val="85714"/>
              <a:buFont typeface="Arial"/>
              <a:buChar char="•"/>
              <a:tabLst>
                <a:tab pos="63500" algn="l"/>
              </a:tabLst>
            </a:pPr>
            <a:r>
              <a:rPr sz="700" i="1" dirty="0">
                <a:latin typeface="Arial"/>
                <a:cs typeface="Arial"/>
              </a:rPr>
              <a:t>Sunday</a:t>
            </a:r>
            <a:r>
              <a:rPr sz="700" i="1" spc="-20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10.00am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to</a:t>
            </a:r>
            <a:r>
              <a:rPr sz="700" i="1" spc="-40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12.00</a:t>
            </a:r>
            <a:r>
              <a:rPr sz="700" i="1" spc="-25" dirty="0">
                <a:latin typeface="Arial"/>
                <a:cs typeface="Arial"/>
              </a:rPr>
              <a:t> </a:t>
            </a:r>
            <a:r>
              <a:rPr sz="700" i="1" spc="-20" dirty="0">
                <a:latin typeface="Arial"/>
                <a:cs typeface="Arial"/>
              </a:rPr>
              <a:t>noon</a:t>
            </a:r>
            <a:endParaRPr sz="700">
              <a:latin typeface="Arial"/>
              <a:cs typeface="Arial"/>
            </a:endParaRPr>
          </a:p>
          <a:p>
            <a:pPr marL="40005" indent="-39370">
              <a:lnSpc>
                <a:spcPct val="100000"/>
              </a:lnSpc>
              <a:buSzPct val="85714"/>
              <a:buFont typeface="Arial"/>
              <a:buChar char="•"/>
              <a:tabLst>
                <a:tab pos="40005" algn="l"/>
              </a:tabLst>
            </a:pPr>
            <a:r>
              <a:rPr sz="700" i="1" dirty="0">
                <a:latin typeface="Arial"/>
                <a:cs typeface="Arial"/>
              </a:rPr>
              <a:t>*</a:t>
            </a:r>
            <a:r>
              <a:rPr sz="700" b="1" i="1" dirty="0">
                <a:solidFill>
                  <a:srgbClr val="00AFEF"/>
                </a:solidFill>
                <a:latin typeface="Arial"/>
                <a:cs typeface="Arial"/>
              </a:rPr>
              <a:t>24/7</a:t>
            </a:r>
            <a:r>
              <a:rPr sz="700" b="1" i="1" spc="-4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700" b="1" i="1" dirty="0">
                <a:solidFill>
                  <a:srgbClr val="00AFEF"/>
                </a:solidFill>
                <a:latin typeface="Arial"/>
                <a:cs typeface="Arial"/>
              </a:rPr>
              <a:t>nurse</a:t>
            </a:r>
            <a:r>
              <a:rPr sz="700" b="1" i="1" spc="-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700" b="1" i="1" dirty="0">
                <a:solidFill>
                  <a:srgbClr val="00AFEF"/>
                </a:solidFill>
                <a:latin typeface="Arial"/>
                <a:cs typeface="Arial"/>
              </a:rPr>
              <a:t>service</a:t>
            </a:r>
            <a:r>
              <a:rPr sz="700" b="1" i="1" spc="-3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700" b="1" i="1" dirty="0">
                <a:solidFill>
                  <a:srgbClr val="00AFEF"/>
                </a:solidFill>
                <a:latin typeface="Arial"/>
                <a:cs typeface="Arial"/>
              </a:rPr>
              <a:t>(365</a:t>
            </a:r>
            <a:r>
              <a:rPr sz="700" b="1" i="1" spc="-20" dirty="0">
                <a:solidFill>
                  <a:srgbClr val="00AFEF"/>
                </a:solidFill>
                <a:latin typeface="Arial"/>
                <a:cs typeface="Arial"/>
              </a:rPr>
              <a:t> days)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r>
              <a:rPr sz="800" b="1" spc="-10" dirty="0">
                <a:solidFill>
                  <a:srgbClr val="FF0000"/>
                </a:solidFill>
                <a:latin typeface="Arial"/>
                <a:cs typeface="Arial"/>
              </a:rPr>
              <a:t>Counsellors: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2589" y="7857176"/>
            <a:ext cx="3561079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 marR="1191260" indent="-20129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00660" algn="l"/>
              </a:tabLst>
            </a:pPr>
            <a:r>
              <a:rPr sz="700" spc="-20" dirty="0">
                <a:latin typeface="Arial"/>
                <a:cs typeface="Arial"/>
              </a:rPr>
              <a:t>Dr.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Chyaithanya</a:t>
            </a:r>
            <a:r>
              <a:rPr sz="700" spc="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Deepak,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Psychiatrist</a:t>
            </a:r>
            <a:r>
              <a:rPr sz="700" spc="19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(Asha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Hospitals)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Visiting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days:</a:t>
            </a:r>
            <a:r>
              <a:rPr sz="700" spc="-10" dirty="0">
                <a:latin typeface="Arial"/>
                <a:cs typeface="Arial"/>
              </a:rPr>
              <a:t> Tuesday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Thursday</a:t>
            </a:r>
            <a:endParaRPr sz="700">
              <a:latin typeface="Arial"/>
              <a:cs typeface="Arial"/>
            </a:endParaRPr>
          </a:p>
          <a:p>
            <a:pPr marL="200660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Visiting</a:t>
            </a:r>
            <a:r>
              <a:rPr sz="700" spc="-4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hours: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10.00am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12.00</a:t>
            </a:r>
            <a:r>
              <a:rPr sz="700" spc="-25" dirty="0">
                <a:latin typeface="Arial"/>
                <a:cs typeface="Arial"/>
              </a:rPr>
              <a:t> pm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194945" marR="874394" indent="-195580">
              <a:lnSpc>
                <a:spcPct val="100000"/>
              </a:lnSpc>
              <a:buAutoNum type="arabicPeriod" startAt="2"/>
              <a:tabLst>
                <a:tab pos="194945" algn="l"/>
                <a:tab pos="197485" algn="l"/>
              </a:tabLst>
            </a:pPr>
            <a:r>
              <a:rPr sz="700" dirty="0">
                <a:latin typeface="Arial"/>
                <a:cs typeface="Arial"/>
              </a:rPr>
              <a:t>	Ms.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B.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Kiranmaiyee,</a:t>
            </a:r>
            <a:r>
              <a:rPr sz="700" spc="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PhD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psychology,</a:t>
            </a:r>
            <a:r>
              <a:rPr sz="700" spc="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Counselling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Psychologist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Visiting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days: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Monday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&amp;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Friday</a:t>
            </a:r>
            <a:endParaRPr sz="7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Visiting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hours: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02.00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pm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04.00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194945" marR="5080" indent="-195580">
              <a:lnSpc>
                <a:spcPct val="100000"/>
              </a:lnSpc>
              <a:buAutoNum type="arabicPeriod" startAt="3"/>
              <a:tabLst>
                <a:tab pos="194945" algn="l"/>
                <a:tab pos="201295" algn="l"/>
              </a:tabLst>
            </a:pPr>
            <a:r>
              <a:rPr sz="700" dirty="0">
                <a:latin typeface="Arial"/>
                <a:cs typeface="Arial"/>
              </a:rPr>
              <a:t>	</a:t>
            </a:r>
            <a:r>
              <a:rPr sz="700" spc="-10" dirty="0">
                <a:latin typeface="Arial"/>
                <a:cs typeface="Arial"/>
              </a:rPr>
              <a:t>Ms.,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Tanusree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Mustafi,</a:t>
            </a:r>
            <a:r>
              <a:rPr sz="700" spc="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RCI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Certificate,</a:t>
            </a:r>
            <a:r>
              <a:rPr sz="700" dirty="0">
                <a:latin typeface="Arial"/>
                <a:cs typeface="Arial"/>
              </a:rPr>
              <a:t> Rehabilition Psychologist</a:t>
            </a:r>
            <a:r>
              <a:rPr sz="700" spc="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and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Psychotherapist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Visiting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days: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Wednesday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&amp;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Saturday</a:t>
            </a:r>
            <a:endParaRPr sz="700">
              <a:latin typeface="Arial"/>
              <a:cs typeface="Arial"/>
            </a:endParaRPr>
          </a:p>
          <a:p>
            <a:pPr marL="219075">
              <a:lnSpc>
                <a:spcPct val="100000"/>
              </a:lnSpc>
            </a:pPr>
            <a:r>
              <a:rPr sz="700" dirty="0">
                <a:latin typeface="Arial"/>
                <a:cs typeface="Arial"/>
              </a:rPr>
              <a:t>Visiting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hours: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02.00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pm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04.00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pm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7616" y="5864352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3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3" y="3415283"/>
                </a:lnTo>
                <a:lnTo>
                  <a:pt x="6082283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7B9FD5AE-7118-58F4-DF06-8D510023DC60}"/>
              </a:ext>
            </a:extLst>
          </p:cNvPr>
          <p:cNvSpPr txBox="1"/>
          <p:nvPr/>
        </p:nvSpPr>
        <p:spPr>
          <a:xfrm>
            <a:off x="6445250" y="257050"/>
            <a:ext cx="80772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/>
                <a:cs typeface="Arial"/>
              </a:rPr>
              <a:t>28</a:t>
            </a:r>
            <a:r>
              <a:rPr sz="1200" spc="-10" dirty="0">
                <a:latin typeface="Arial"/>
                <a:cs typeface="Arial"/>
              </a:rPr>
              <a:t>/7/202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405128"/>
            <a:ext cx="6095999" cy="3428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7374" y="4594304"/>
            <a:ext cx="704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7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19200" y="2490216"/>
          <a:ext cx="4629149" cy="1405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Sl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No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Particulars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Discount</a:t>
                      </a:r>
                      <a:r>
                        <a:rPr sz="5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Structure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5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5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Consultation</a:t>
                      </a:r>
                      <a:r>
                        <a:rPr sz="5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Discount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20%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5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5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Diagnostic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Discount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20%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5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5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Packages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20%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Discount</a:t>
                      </a:r>
                      <a:r>
                        <a:rPr sz="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(Applicable</a:t>
                      </a:r>
                      <a:r>
                        <a:rPr sz="5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Cash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only).</a:t>
                      </a:r>
                      <a:r>
                        <a:rPr sz="5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Not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Applicable</a:t>
                      </a:r>
                      <a:r>
                        <a:rPr sz="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5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Insurance</a:t>
                      </a:r>
                      <a:r>
                        <a:rPr sz="5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Patients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5%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655" marR="26034">
                        <a:lnSpc>
                          <a:spcPct val="114500"/>
                        </a:lnSpc>
                        <a:spcBef>
                          <a:spcPts val="10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Excluding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MRP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as,</a:t>
                      </a:r>
                      <a:r>
                        <a:rPr sz="5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to,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Pharmacy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Items,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Consumables,</a:t>
                      </a:r>
                      <a:r>
                        <a:rPr sz="5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Stents,</a:t>
                      </a:r>
                      <a:r>
                        <a:rPr sz="5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Implants</a:t>
                      </a:r>
                      <a:r>
                        <a:rPr sz="5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etc.)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5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Free</a:t>
                      </a:r>
                      <a:r>
                        <a:rPr sz="55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55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55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room</a:t>
                      </a:r>
                      <a:r>
                        <a:rPr sz="55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up-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gradation</a:t>
                      </a:r>
                      <a:r>
                        <a:rPr sz="55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55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55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55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55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IP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admission.</a:t>
                      </a:r>
                      <a:r>
                        <a:rPr sz="5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(If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available)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097" y="1918153"/>
            <a:ext cx="2781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Benefits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Care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MoU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7616" y="1411224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3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3" y="3415283"/>
                </a:lnTo>
                <a:lnTo>
                  <a:pt x="608228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5858255"/>
            <a:ext cx="6095999" cy="3429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37374" y="9047384"/>
            <a:ext cx="704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8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19200" y="6943344"/>
          <a:ext cx="4629149" cy="1424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Sl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No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Particulars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Discount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5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cash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tariff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OPD</a:t>
                      </a:r>
                      <a:r>
                        <a:rPr sz="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consultation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(Specialist/Super</a:t>
                      </a:r>
                      <a:r>
                        <a:rPr sz="5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specialist)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10%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Lab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investigations</a:t>
                      </a:r>
                      <a:r>
                        <a:rPr sz="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(excluding</a:t>
                      </a:r>
                      <a:r>
                        <a:rPr sz="5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outsourced</a:t>
                      </a:r>
                      <a:r>
                        <a:rPr sz="5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tests)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20%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Radiology</a:t>
                      </a:r>
                      <a:r>
                        <a:rPr sz="5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(X-day,</a:t>
                      </a:r>
                      <a:r>
                        <a:rPr sz="5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CT,</a:t>
                      </a:r>
                      <a:r>
                        <a:rPr sz="5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20" dirty="0">
                          <a:latin typeface="Calibri"/>
                          <a:cs typeface="Calibri"/>
                        </a:rPr>
                        <a:t>USG)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10%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5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OPD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procedures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10%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5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IPD</a:t>
                      </a:r>
                      <a:r>
                        <a:rPr sz="550" spc="4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550" spc="4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cash</a:t>
                      </a:r>
                      <a:r>
                        <a:rPr sz="550" spc="4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paying</a:t>
                      </a:r>
                      <a:r>
                        <a:rPr sz="550" spc="4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550" spc="4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(excluding</a:t>
                      </a:r>
                      <a:r>
                        <a:rPr sz="550" spc="4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packages,</a:t>
                      </a:r>
                      <a:endParaRPr sz="550">
                        <a:latin typeface="Calibri"/>
                        <a:cs typeface="Calibri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consumables,</a:t>
                      </a:r>
                      <a:r>
                        <a:rPr sz="5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implants</a:t>
                      </a:r>
                      <a:r>
                        <a:rPr sz="5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5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pharmacy)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10%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50" dirty="0">
                          <a:latin typeface="Calibri"/>
                          <a:cs typeface="Calibri"/>
                        </a:rPr>
                        <a:t>6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10" dirty="0">
                          <a:latin typeface="Calibri"/>
                          <a:cs typeface="Calibri"/>
                        </a:rPr>
                        <a:t>Pharmacy,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Dental</a:t>
                      </a:r>
                      <a:r>
                        <a:rPr sz="5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procedures</a:t>
                      </a:r>
                      <a:r>
                        <a:rPr sz="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emergency </a:t>
                      </a:r>
                      <a:r>
                        <a:rPr sz="550" spc="-20" dirty="0">
                          <a:latin typeface="Calibri"/>
                          <a:cs typeface="Calibri"/>
                        </a:rPr>
                        <a:t>care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50" spc="-25" dirty="0">
                          <a:latin typeface="Calibri"/>
                          <a:cs typeface="Calibri"/>
                        </a:rPr>
                        <a:t>NIL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65097" y="6371278"/>
            <a:ext cx="37299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Benefits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Rainbow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Hospitals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7616" y="5864352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3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3" y="3415283"/>
                </a:lnTo>
                <a:lnTo>
                  <a:pt x="6082283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5751AF5A-09C4-C4FF-9E7D-6552985E39DB}"/>
              </a:ext>
            </a:extLst>
          </p:cNvPr>
          <p:cNvSpPr txBox="1"/>
          <p:nvPr/>
        </p:nvSpPr>
        <p:spPr>
          <a:xfrm>
            <a:off x="6445250" y="257050"/>
            <a:ext cx="80772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/>
                <a:cs typeface="Arial"/>
              </a:rPr>
              <a:t>28</a:t>
            </a:r>
            <a:r>
              <a:rPr sz="1200" spc="-10" dirty="0">
                <a:latin typeface="Arial"/>
                <a:cs typeface="Arial"/>
              </a:rPr>
              <a:t>/7/202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405128"/>
            <a:ext cx="6095999" cy="3428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0074" y="4629102"/>
            <a:ext cx="4508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700" spc="-50" dirty="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1520" y="1405127"/>
            <a:ext cx="6094730" cy="3427729"/>
            <a:chOff x="731520" y="1405127"/>
            <a:chExt cx="6094730" cy="34277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731" y="1996440"/>
              <a:ext cx="1808987" cy="16291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816" y="2686811"/>
              <a:ext cx="1642871" cy="2066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1120" y="2944367"/>
              <a:ext cx="1648967" cy="18196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4931" y="3715511"/>
              <a:ext cx="1575816" cy="10043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7616" y="1411223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3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3" y="3415283"/>
                  </a:lnTo>
                  <a:lnTo>
                    <a:pt x="6082283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5858255"/>
            <a:ext cx="6095999" cy="34290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7616" y="5864352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Times New Roman"/>
              <a:cs typeface="Times New Roman"/>
            </a:endParaRPr>
          </a:p>
          <a:p>
            <a:pPr marR="194310" algn="r">
              <a:lnSpc>
                <a:spcPct val="100000"/>
              </a:lnSpc>
            </a:pPr>
            <a:r>
              <a:rPr sz="700" spc="-25" dirty="0">
                <a:solidFill>
                  <a:srgbClr val="7E7E7E"/>
                </a:solidFill>
                <a:latin typeface="Calibri"/>
                <a:cs typeface="Calibri"/>
              </a:rPr>
              <a:t>10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2511" y="7517892"/>
            <a:ext cx="2011680" cy="2651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5468FE22-7B84-CC94-0167-E561804CF32F}"/>
              </a:ext>
            </a:extLst>
          </p:cNvPr>
          <p:cNvSpPr txBox="1"/>
          <p:nvPr/>
        </p:nvSpPr>
        <p:spPr>
          <a:xfrm>
            <a:off x="6445250" y="257050"/>
            <a:ext cx="80772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/>
                <a:cs typeface="Arial"/>
              </a:rPr>
              <a:t>28</a:t>
            </a:r>
            <a:r>
              <a:rPr sz="1200" spc="-10" dirty="0">
                <a:latin typeface="Arial"/>
                <a:cs typeface="Arial"/>
              </a:rPr>
              <a:t>/7/202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1795</TotalTime>
  <Words>736</Words>
  <Application>Microsoft Office PowerPoint</Application>
  <PresentationFormat>Custom</PresentationFormat>
  <Paragraphs>180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AAROGYA CENTER-PPT [Compatibility Mode]</dc:title>
  <dc:creator>MANOHAR</dc:creator>
  <cp:lastModifiedBy>Manas Ranjan</cp:lastModifiedBy>
  <cp:revision>4</cp:revision>
  <dcterms:created xsi:type="dcterms:W3CDTF">2026-07-28T04:42:18Z</dcterms:created>
  <dcterms:modified xsi:type="dcterms:W3CDTF">2026-07-29T12:07:06Z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2023-09-07T00:00:00Z</vt:filetime>
  </property>
  <property fmtid="{D5CDD505-2E9C-101B-9397-08002B2CF9AE}" pid="3" name="LastSaved">
    <vt:filetime>2026-07-28T00:00:00Z</vt:filetime>
  </property>
  <property fmtid="{D5CDD505-2E9C-101B-9397-08002B2CF9AE}" pid="4" name="Producer">
    <vt:lpwstr>Microsoft: Print To PDF</vt:lpwstr>
  </property>
</Properties>
</file>